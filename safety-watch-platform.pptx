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FE489-BE92-70B7-9795-353798BB8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BDD534-1AD6-C883-949C-7466AB2D4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F2850B-5F4B-74FE-E1D2-EDF28587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5101B-E84C-6644-2071-DC126205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3A69BF-E45D-85DB-31DD-50C6058D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109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14F4E-0962-7902-D336-BA372DBE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85CDF-0346-038F-32E9-55487CA25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F4A476-B788-EFA9-9540-BAEC0ABC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CFB36A-A2CE-1C20-A361-62A3CE89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3F042D-A22E-2AA4-266F-70A7F4D6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69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C1CB8-4448-016C-47E1-CF1E8281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E86B53-3FD9-3121-E3FA-E7A8CC787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596A33-354A-DA20-1C30-B08B7793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35C3D8-BCF6-CCE1-BF58-F8C12D40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7956DC-3CEE-40D5-C470-EEB276A9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00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51CB6-08A5-DF18-4EB0-9F5ABBA3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110FC-19A1-8E55-B818-291D6BA00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904F99-E90A-6586-06A0-BE2BFA095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8B8EF-A73F-4E07-A6E1-167834F01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036C42-BB47-34E4-2F76-D0BDAD07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0B888C-6B33-47D2-9B87-0639D4AA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9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429CB-E031-3A24-480C-5428693A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915F39-1355-3283-9DE3-BCC307B0A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572309-CA76-215B-0D19-680DB31F2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78B1B0-5E16-5542-365E-9CF0FAD7C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87AF8A-95D3-D298-E3C7-DE1B98A88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752D5C-284C-EA53-4997-65E2D299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F450E7-46B0-26B1-949A-0A578B63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ACB25DF-0ED3-902B-9A01-19F9FE5B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23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D193B-E770-A5BD-1E5D-5DAA808D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CA2453-1E00-A3AF-B12D-C907CFD5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AF3A68-11C6-FCEA-46E5-CF841255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4ABC8C-D0C3-FF9E-B78C-73CDEFD8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23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0481AF-BA1B-7211-3581-764D0984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CE5D3A-BE68-8EAF-BCB3-7D45449F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46D796-D28D-FB28-A65B-D4939A6A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77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22053-FACB-043A-092D-27BB3C4E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A1B69F-E1BF-CCB4-1936-2B7FD7D8C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230771-FE92-FB8D-E0B7-D423428E7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21D204-FE7F-AD24-0C3D-39849141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A76C4E-8F98-408F-EE01-C7DAA905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E2F33-4345-1EB4-1BF9-77A431EB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8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950B7-B2CE-7A71-33A2-6720AB36E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EB12BB-2D4F-34B6-C312-D0385EF23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B1ECD3-8F83-2A1B-FB96-EC644C127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C6D954-B5A0-C747-7E03-12A3B4BA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CFCAD9-37FA-8116-0D7B-7B025F66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D32282-33EB-77A5-D6CA-12194F96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88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1B427-9455-28F4-292A-9D043568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7A60C1-16F0-5D00-B2E0-1CCE11B76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5CBCE-8B14-BB66-67ED-DA9E1B76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5343A-A8D6-3BDE-1710-B3EC9DAB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1C5DC-1459-E7A5-461E-73C736FA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674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514844-81A0-A644-109E-EF0933834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E8EB9D-9BB1-B7A1-32BE-EC1883428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C82B91-61D0-1E8E-06DB-A106E4D6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947ED-1D31-B720-5EA5-C5E53C75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8C8A5-D545-CA94-45D7-551FD59F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01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9A0CB5-2502-2791-279B-E55EAE4D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6188AF-446B-EA13-C46C-07F72CB08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606262-0F9E-EAEB-C8D0-0AD32F374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7F6A1-9184-48EC-AB4E-200045E3F4B2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0E306-75CE-0FB7-5EFF-175303A3F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99DF3-386A-2068-113F-B89C087BE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95757-0644-4A8A-A1A3-1669697F8C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6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EB4648-355E-FB3F-92E5-A5B8891FBC2E}"/>
              </a:ext>
            </a:extLst>
          </p:cNvPr>
          <p:cNvSpPr/>
          <p:nvPr/>
        </p:nvSpPr>
        <p:spPr>
          <a:xfrm>
            <a:off x="970882" y="1923714"/>
            <a:ext cx="3116179" cy="45492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어댑터 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 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모듈 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 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미디어 서버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5E1D6F-DAF7-615F-7762-A0CECE4B3A18}"/>
              </a:ext>
            </a:extLst>
          </p:cNvPr>
          <p:cNvSpPr/>
          <p:nvPr/>
        </p:nvSpPr>
        <p:spPr>
          <a:xfrm>
            <a:off x="5241758" y="2683042"/>
            <a:ext cx="6023810" cy="37899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플랫폼 코어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버스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)</a:t>
            </a:r>
            <a:endParaRPr lang="ko-KR" altLang="en-US" sz="110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E760EF-A49E-3E8C-F29F-4C0236A3F02B}"/>
              </a:ext>
            </a:extLst>
          </p:cNvPr>
          <p:cNvSpPr/>
          <p:nvPr/>
        </p:nvSpPr>
        <p:spPr>
          <a:xfrm>
            <a:off x="5241758" y="385013"/>
            <a:ext cx="6023810" cy="1010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표현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외부 시스템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E78FC9-75FC-A82E-452A-53356202596C}"/>
              </a:ext>
            </a:extLst>
          </p:cNvPr>
          <p:cNvSpPr/>
          <p:nvPr/>
        </p:nvSpPr>
        <p:spPr>
          <a:xfrm>
            <a:off x="5419724" y="800102"/>
            <a:ext cx="1770649" cy="403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웹 대시보드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F99581-95A2-7F6A-39DB-EAD9803F9A20}"/>
              </a:ext>
            </a:extLst>
          </p:cNvPr>
          <p:cNvSpPr/>
          <p:nvPr/>
        </p:nvSpPr>
        <p:spPr>
          <a:xfrm>
            <a:off x="7368338" y="800102"/>
            <a:ext cx="1770649" cy="403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외부 관제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F11686-83DE-4C00-88AC-73E49A9CB882}"/>
              </a:ext>
            </a:extLst>
          </p:cNvPr>
          <p:cNvSpPr/>
          <p:nvPr/>
        </p:nvSpPr>
        <p:spPr>
          <a:xfrm>
            <a:off x="9316952" y="800102"/>
            <a:ext cx="1770649" cy="403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상위 시스템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F2E65D2-773A-A758-5345-73DD6FA175B5}"/>
              </a:ext>
            </a:extLst>
          </p:cNvPr>
          <p:cNvGrpSpPr/>
          <p:nvPr/>
        </p:nvGrpSpPr>
        <p:grpSpPr>
          <a:xfrm>
            <a:off x="9138987" y="3266566"/>
            <a:ext cx="1770650" cy="2695077"/>
            <a:chOff x="8942466" y="3007895"/>
            <a:chExt cx="1770650" cy="2695077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31FE1DD-49B1-4BAB-DAC6-36095B7582CF}"/>
                </a:ext>
              </a:extLst>
            </p:cNvPr>
            <p:cNvSpPr/>
            <p:nvPr/>
          </p:nvSpPr>
          <p:spPr>
            <a:xfrm>
              <a:off x="8942466" y="3007895"/>
              <a:ext cx="1770649" cy="4812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장치 등록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카메라 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 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모듈 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 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자격증명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FD55212-2641-734D-33F3-295F6B2B2117}"/>
                </a:ext>
              </a:extLst>
            </p:cNvPr>
            <p:cNvSpPr/>
            <p:nvPr/>
          </p:nvSpPr>
          <p:spPr>
            <a:xfrm>
              <a:off x="8942467" y="3747840"/>
              <a:ext cx="1770649" cy="4812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미디어 파이프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수집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배포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녹화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재생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571330F-3227-A429-9CC3-B6A5F7F24CDA}"/>
                </a:ext>
              </a:extLst>
            </p:cNvPr>
            <p:cNvSpPr/>
            <p:nvPr/>
          </p:nvSpPr>
          <p:spPr>
            <a:xfrm>
              <a:off x="8942467" y="4481765"/>
              <a:ext cx="1770649" cy="4812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분석 오케스트레이터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등록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할당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상태감시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02F3873-0B78-C028-3D19-57C80894D9FB}"/>
                </a:ext>
              </a:extLst>
            </p:cNvPr>
            <p:cNvSpPr/>
            <p:nvPr/>
          </p:nvSpPr>
          <p:spPr>
            <a:xfrm>
              <a:off x="8942466" y="5221710"/>
              <a:ext cx="1770649" cy="4812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이벤트 파이프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algn="ctr"/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정규화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승격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적재</a:t>
              </a:r>
              <a:r>
                <a:rPr lang="en-US" altLang="ko-KR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/</a:t>
              </a:r>
              <a:r>
                <a:rPr lang="ko-KR" altLang="en-US" sz="1100">
                  <a:solidFill>
                    <a:schemeClr val="tx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통보</a:t>
              </a:r>
              <a:endPara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82118F7-2E9F-B11C-1AC2-D8C202D025C0}"/>
              </a:ext>
            </a:extLst>
          </p:cNvPr>
          <p:cNvSpPr/>
          <p:nvPr/>
        </p:nvSpPr>
        <p:spPr>
          <a:xfrm>
            <a:off x="5752392" y="4114795"/>
            <a:ext cx="2414842" cy="7459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통합 허브 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- 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인바운드</a:t>
            </a:r>
            <a:endParaRPr lang="en-US" altLang="ko-KR" sz="110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바인딩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아웃바운드 어댑터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DAB416C-F01A-FB12-A240-95A96076CB90}"/>
              </a:ext>
            </a:extLst>
          </p:cNvPr>
          <p:cNvSpPr/>
          <p:nvPr/>
        </p:nvSpPr>
        <p:spPr>
          <a:xfrm>
            <a:off x="1212762" y="2657650"/>
            <a:ext cx="2660737" cy="619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입력 어댑터</a:t>
            </a:r>
            <a:endParaRPr lang="en-US" altLang="ko-KR" sz="110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RTSP/ONVIF/MQTT/HTTP/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파일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/PLC</a:t>
            </a:r>
            <a:endParaRPr lang="ko-KR" altLang="en-US" sz="110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D22A35-F21F-E750-30B2-F07827BBF340}"/>
              </a:ext>
            </a:extLst>
          </p:cNvPr>
          <p:cNvSpPr/>
          <p:nvPr/>
        </p:nvSpPr>
        <p:spPr>
          <a:xfrm>
            <a:off x="1212762" y="3644236"/>
            <a:ext cx="2660737" cy="619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분석 모듈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C24909-422A-9117-7BE1-D5EB55D8740F}"/>
              </a:ext>
            </a:extLst>
          </p:cNvPr>
          <p:cNvSpPr/>
          <p:nvPr/>
        </p:nvSpPr>
        <p:spPr>
          <a:xfrm>
            <a:off x="1212762" y="4636835"/>
            <a:ext cx="2660735" cy="6136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출력 어댑터</a:t>
            </a:r>
            <a:endParaRPr lang="en-US" altLang="ko-KR" sz="110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MQTT 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발행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웹훅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알림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/PLC</a:t>
            </a:r>
            <a:endParaRPr lang="ko-KR" altLang="en-US" sz="1100">
              <a:solidFill>
                <a:schemeClr val="tx1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B6B3272-92E9-F744-6562-DA951B7DB755}"/>
              </a:ext>
            </a:extLst>
          </p:cNvPr>
          <p:cNvSpPr/>
          <p:nvPr/>
        </p:nvSpPr>
        <p:spPr>
          <a:xfrm>
            <a:off x="1212763" y="5629435"/>
            <a:ext cx="2660734" cy="6075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미디어 서버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(MediaMTX)</a:t>
            </a:r>
          </a:p>
          <a:p>
            <a:pPr algn="ctr"/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fan-out/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녹화</a:t>
            </a:r>
            <a:r>
              <a:rPr lang="en-US" altLang="ko-KR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100">
                <a:solidFill>
                  <a:schemeClr val="tx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재생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7FA490D-AF8E-D9E6-6933-7766DDC3DA3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305049" y="1203152"/>
            <a:ext cx="0" cy="1479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CBE5BA5-A061-77F5-4150-57C349DA91A0}"/>
              </a:ext>
            </a:extLst>
          </p:cNvPr>
          <p:cNvCxnSpPr>
            <a:stCxn id="9" idx="2"/>
            <a:endCxn id="4" idx="0"/>
          </p:cNvCxnSpPr>
          <p:nvPr/>
        </p:nvCxnSpPr>
        <p:spPr>
          <a:xfrm>
            <a:off x="8253663" y="1203152"/>
            <a:ext cx="0" cy="1479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E780B50-A75E-A27E-DC60-155AF16FD3E7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202277" y="1203152"/>
            <a:ext cx="0" cy="1479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60E341D-C7DE-EB34-1A6D-C3851E0063F6}"/>
              </a:ext>
            </a:extLst>
          </p:cNvPr>
          <p:cNvSpPr txBox="1"/>
          <p:nvPr/>
        </p:nvSpPr>
        <p:spPr>
          <a:xfrm>
            <a:off x="5884720" y="1765612"/>
            <a:ext cx="9582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REST</a:t>
            </a:r>
            <a:r>
              <a:rPr lang="ko-KR" altLang="en-US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Webhook</a:t>
            </a:r>
            <a:endParaRPr lang="ko-KR" altLang="en-US" sz="1000"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BEC467-1D14-C3B1-E1D1-E6C0965D4B68}"/>
              </a:ext>
            </a:extLst>
          </p:cNvPr>
          <p:cNvSpPr txBox="1"/>
          <p:nvPr/>
        </p:nvSpPr>
        <p:spPr>
          <a:xfrm>
            <a:off x="7833333" y="1765612"/>
            <a:ext cx="9582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MQTT</a:t>
            </a:r>
            <a:r>
              <a:rPr lang="ko-KR" altLang="en-US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/</a:t>
            </a:r>
            <a:r>
              <a:rPr lang="ko-KR" altLang="en-US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Webhook</a:t>
            </a:r>
            <a:endParaRPr lang="ko-KR" altLang="en-US" sz="1000"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947A4A-E627-9A06-8A20-BF67008D5A88}"/>
              </a:ext>
            </a:extLst>
          </p:cNvPr>
          <p:cNvSpPr txBox="1"/>
          <p:nvPr/>
        </p:nvSpPr>
        <p:spPr>
          <a:xfrm>
            <a:off x="9723142" y="1819986"/>
            <a:ext cx="95826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REST</a:t>
            </a:r>
            <a:endParaRPr lang="ko-KR" altLang="en-US" sz="1000"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8220B42B-B8D8-E77B-9157-44BE6209823A}"/>
              </a:ext>
            </a:extLst>
          </p:cNvPr>
          <p:cNvCxnSpPr>
            <a:stCxn id="22" idx="3"/>
            <a:endCxn id="13" idx="1"/>
          </p:cNvCxnSpPr>
          <p:nvPr/>
        </p:nvCxnSpPr>
        <p:spPr>
          <a:xfrm flipV="1">
            <a:off x="3873497" y="4247142"/>
            <a:ext cx="5265491" cy="1686091"/>
          </a:xfrm>
          <a:prstGeom prst="bentConnector3">
            <a:avLst>
              <a:gd name="adj1" fmla="val 9069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E82DF15-6016-E4B9-7464-3CDFEB2EBB49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10024312" y="3747828"/>
            <a:ext cx="1" cy="258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1D41797-3044-06A8-4B13-9D150CB3D51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0024313" y="4487773"/>
            <a:ext cx="0" cy="252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C4663CA-61C4-AE0C-7780-F8A9BE84C659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10024312" y="5221698"/>
            <a:ext cx="1" cy="258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EDE4E8B-6417-EEF4-9A15-36AC896480C8}"/>
              </a:ext>
            </a:extLst>
          </p:cNvPr>
          <p:cNvCxnSpPr>
            <a:stCxn id="19" idx="3"/>
            <a:endCxn id="17" idx="1"/>
          </p:cNvCxnSpPr>
          <p:nvPr/>
        </p:nvCxnSpPr>
        <p:spPr>
          <a:xfrm>
            <a:off x="3873499" y="2967457"/>
            <a:ext cx="1878893" cy="15203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C7183F06-B8F1-3CCB-BC60-6012126F58F4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>
            <a:off x="3873499" y="3954043"/>
            <a:ext cx="1878893" cy="5337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3F14DB66-FD60-B6F9-C294-D0ACD05DC762}"/>
              </a:ext>
            </a:extLst>
          </p:cNvPr>
          <p:cNvCxnSpPr>
            <a:stCxn id="21" idx="3"/>
            <a:endCxn id="17" idx="1"/>
          </p:cNvCxnSpPr>
          <p:nvPr/>
        </p:nvCxnSpPr>
        <p:spPr>
          <a:xfrm flipV="1">
            <a:off x="3873497" y="4487773"/>
            <a:ext cx="1878895" cy="4558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6653D6E-B82D-D61D-DB79-F4D76A0C0203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873497" y="4487773"/>
            <a:ext cx="1878895" cy="12873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52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sz="1050" smtClean="0">
            <a:solidFill>
              <a:schemeClr val="tx1"/>
            </a:solidFill>
            <a:latin typeface="KoPubWorld돋움체_Pro Bold" panose="00000800000000000000" pitchFamily="50" charset="-127"/>
            <a:ea typeface="KoPubWorld돋움체_Pro Bold" panose="00000800000000000000" pitchFamily="50" charset="-127"/>
            <a:cs typeface="KoPubWorld돋움체_Pro Bold" panose="00000800000000000000" pitchFamily="50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000" smtClean="0">
            <a:latin typeface="KoPubWorld돋움체_Pro Bold" panose="00000800000000000000" pitchFamily="50" charset="-127"/>
            <a:ea typeface="KoPubWorld돋움체_Pro Bold" panose="00000800000000000000" pitchFamily="50" charset="-127"/>
            <a:cs typeface="KoPubWorld돋움체_Pro Bold" panose="000008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" id="{F01B78B4-EACA-4F3C-BC77-3EA1A2482A19}" vid="{8BAD6823-9755-4B74-B07D-C6A8B81337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49</TotalTime>
  <Words>103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KoPubWorld돋움체_Pro 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 SH</dc:creator>
  <cp:lastModifiedBy>L SH</cp:lastModifiedBy>
  <cp:revision>2</cp:revision>
  <dcterms:created xsi:type="dcterms:W3CDTF">2026-09-08T04:50:41Z</dcterms:created>
  <dcterms:modified xsi:type="dcterms:W3CDTF">2026-09-08T10:35:15Z</dcterms:modified>
</cp:coreProperties>
</file>