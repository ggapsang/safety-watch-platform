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150" d="100"/>
          <a:sy n="150" d="100"/>
        </p:scale>
        <p:origin x="-2088" y="3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7FE489-BE92-70B7-9795-353798BB85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BDD534-1AD6-C883-949C-7466AB2D4B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CF2850B-5F4B-74FE-E1D2-EDF285874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7F6A1-9184-48EC-AB4E-200045E3F4B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E5101B-E84C-6644-2071-DC126205A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3A69BF-E45D-85DB-31DD-50C6058D5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95757-0644-4A8A-A1A3-1669697F8C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61097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514F4E-0962-7902-D336-BA372DBE8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385CDF-0346-038F-32E9-55487CA25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F4A476-B788-EFA9-9540-BAEC0ABCD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7F6A1-9184-48EC-AB4E-200045E3F4B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CFB36A-A2CE-1C20-A361-62A3CE896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3F042D-A22E-2AA4-266F-70A7F4D6F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95757-0644-4A8A-A1A3-1669697F8C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696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3C1CB8-4448-016C-47E1-CF1E8281F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4E86B53-3FD9-3121-E3FA-E7A8CC787B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596A33-354A-DA20-1C30-B08B7793A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7F6A1-9184-48EC-AB4E-200045E3F4B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35C3D8-BCF6-CCE1-BF58-F8C12D408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7956DC-3CEE-40D5-C470-EEB276A9D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95757-0644-4A8A-A1A3-1669697F8C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006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451CB6-08A5-DF18-4EB0-9F5ABBA36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110FC-19A1-8E55-B818-291D6BA003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B904F99-E90A-6586-06A0-BE2BFA0952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A8B8EF-A73F-4E07-A6E1-167834F01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7F6A1-9184-48EC-AB4E-200045E3F4B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0036C42-BB47-34E4-2F76-D0BDAD07B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10B888C-6B33-47D2-9B87-0639D4AA5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95757-0644-4A8A-A1A3-1669697F8C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4295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D429CB-E031-3A24-480C-5428693A9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915F39-1355-3283-9DE3-BCC307B0A6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572309-CA76-215B-0D19-680DB31F2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78B1B0-5E16-5542-365E-9CF0FAD7C1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F87AF8A-95D3-D298-E3C7-DE1B98A886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C752D5C-284C-EA53-4997-65E2D2993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7F6A1-9184-48EC-AB4E-200045E3F4B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0F450E7-46B0-26B1-949A-0A578B63D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ACB25DF-0ED3-902B-9A01-19F9FE5B4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95757-0644-4A8A-A1A3-1669697F8C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6238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4D193B-E770-A5BD-1E5D-5DAA808D2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5CA2453-1E00-A3AF-B12D-C907CFD53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7F6A1-9184-48EC-AB4E-200045E3F4B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AF3A68-11C6-FCEA-46E5-CF8412556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44ABC8C-D0C3-FF9E-B78C-73CDEFD86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95757-0644-4A8A-A1A3-1669697F8C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1232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30481AF-BA1B-7211-3581-764D09847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7F6A1-9184-48EC-AB4E-200045E3F4B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6CE5D3A-BE68-8EAF-BCB3-7D45449F2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46D796-D28D-FB28-A65B-D4939A6A5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95757-0644-4A8A-A1A3-1669697F8C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9779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622053-FACB-043A-092D-27BB3C4ECC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A1B69F-E1BF-CCB4-1936-2B7FD7D8C2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A230771-FE92-FB8D-E0B7-D423428E73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A21D204-FE7F-AD24-0C3D-39849141A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7F6A1-9184-48EC-AB4E-200045E3F4B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A76C4E-8F98-408F-EE01-C7DAA9057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9EE2F33-4345-1EB4-1BF9-77A431EB4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95757-0644-4A8A-A1A3-1669697F8C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58499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7950B7-B2CE-7A71-33A2-6720AB36E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0EB12BB-2D4F-34B6-C312-D0385EF239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CB1ECD3-8F83-2A1B-FB96-EC644C127A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5C6D954-B5A0-C747-7E03-12A3B4BA38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7F6A1-9184-48EC-AB4E-200045E3F4B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CFCAD9-37FA-8116-0D7B-7B025F663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D32282-33EB-77A5-D6CA-12194F96E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95757-0644-4A8A-A1A3-1669697F8C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881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21B427-9455-28F4-292A-9D0435682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7A60C1-16F0-5D00-B2E0-1CCE11B76F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B5CBCE-8B14-BB66-67ED-DA9E1B76D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7F6A1-9184-48EC-AB4E-200045E3F4B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65343A-A8D6-3BDE-1710-B3EC9DAB1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21C5DC-1459-E7A5-461E-73C736FA4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95757-0644-4A8A-A1A3-1669697F8C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66744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4514844-81A0-A644-109E-EF09338344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DE8EB9D-9BB1-B7A1-32BE-EC18834283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C82B91-61D0-1E8E-06DB-A106E4D6C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7F6A1-9184-48EC-AB4E-200045E3F4B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7947ED-1D31-B720-5EA5-C5E53C75A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58C8A5-D545-CA94-45D7-551FD59FE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95757-0644-4A8A-A1A3-1669697F8C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015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99A0CB5-2502-2791-279B-E55EAE4D7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6188AF-446B-EA13-C46C-07F72CB08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B606262-0F9E-EAEB-C8D0-0AD32F374B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7F6A1-9184-48EC-AB4E-200045E3F4B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E0E306-75CE-0FB7-5EFF-175303A3F1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899DF3-386A-2068-113F-B89C087BEE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B95757-0644-4A8A-A1A3-1669697F8C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9867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EB4648-355E-FB3F-92E5-A5B8891FBC2E}"/>
              </a:ext>
            </a:extLst>
          </p:cNvPr>
          <p:cNvSpPr/>
          <p:nvPr/>
        </p:nvSpPr>
        <p:spPr>
          <a:xfrm>
            <a:off x="970882" y="1923714"/>
            <a:ext cx="3116179" cy="45492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어댑터 </a:t>
            </a:r>
            <a:r>
              <a: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/ </a:t>
            </a:r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모듈 </a:t>
            </a:r>
            <a:r>
              <a: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/ </a:t>
            </a:r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미디어 서버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B5E1D6F-DAF7-615F-7762-A0CECE4B3A18}"/>
              </a:ext>
            </a:extLst>
          </p:cNvPr>
          <p:cNvSpPr/>
          <p:nvPr/>
        </p:nvSpPr>
        <p:spPr>
          <a:xfrm>
            <a:off x="5241758" y="2683042"/>
            <a:ext cx="6023810" cy="37899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플랫폼 코어</a:t>
            </a:r>
            <a:r>
              <a: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(</a:t>
            </a:r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버스</a:t>
            </a:r>
            <a:r>
              <a: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)</a:t>
            </a:r>
            <a:endParaRPr lang="ko-KR" altLang="en-US" sz="1100">
              <a:solidFill>
                <a:schemeClr val="tx1"/>
              </a:solidFill>
              <a:latin typeface="KoPubWorld돋움체_Pro Bold" panose="00000800000000000000" pitchFamily="50" charset="-127"/>
              <a:ea typeface="KoPubWorld돋움체_Pro Bold" panose="00000800000000000000" pitchFamily="50" charset="-127"/>
              <a:cs typeface="KoPubWorld돋움체_Pro Bold" panose="00000800000000000000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CE760EF-A49E-3E8C-F29F-4C0236A3F02B}"/>
              </a:ext>
            </a:extLst>
          </p:cNvPr>
          <p:cNvSpPr/>
          <p:nvPr/>
        </p:nvSpPr>
        <p:spPr>
          <a:xfrm>
            <a:off x="5241758" y="385013"/>
            <a:ext cx="6023810" cy="10106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표현</a:t>
            </a:r>
            <a:r>
              <a: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/</a:t>
            </a:r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외부 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7E78FC9-75FC-A82E-452A-53356202596C}"/>
              </a:ext>
            </a:extLst>
          </p:cNvPr>
          <p:cNvSpPr/>
          <p:nvPr/>
        </p:nvSpPr>
        <p:spPr>
          <a:xfrm>
            <a:off x="5419724" y="800102"/>
            <a:ext cx="1770649" cy="40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웹 대시보드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5F99581-95A2-7F6A-39DB-EAD9803F9A20}"/>
              </a:ext>
            </a:extLst>
          </p:cNvPr>
          <p:cNvSpPr/>
          <p:nvPr/>
        </p:nvSpPr>
        <p:spPr>
          <a:xfrm>
            <a:off x="7368338" y="800102"/>
            <a:ext cx="1770649" cy="40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외부 관제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EF11686-83DE-4C00-88AC-73E49A9CB882}"/>
              </a:ext>
            </a:extLst>
          </p:cNvPr>
          <p:cNvSpPr/>
          <p:nvPr/>
        </p:nvSpPr>
        <p:spPr>
          <a:xfrm>
            <a:off x="9316952" y="800102"/>
            <a:ext cx="1770649" cy="40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상위 시스템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F2E65D2-773A-A758-5345-73DD6FA175B5}"/>
              </a:ext>
            </a:extLst>
          </p:cNvPr>
          <p:cNvGrpSpPr/>
          <p:nvPr/>
        </p:nvGrpSpPr>
        <p:grpSpPr>
          <a:xfrm>
            <a:off x="9138987" y="3266566"/>
            <a:ext cx="1770650" cy="2695077"/>
            <a:chOff x="8942466" y="3007895"/>
            <a:chExt cx="1770650" cy="2695077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231FE1DD-49B1-4BAB-DAC6-36095B7582CF}"/>
                </a:ext>
              </a:extLst>
            </p:cNvPr>
            <p:cNvSpPr/>
            <p:nvPr/>
          </p:nvSpPr>
          <p:spPr>
            <a:xfrm>
              <a:off x="8942466" y="3007895"/>
              <a:ext cx="1770649" cy="4812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장치 등록</a:t>
              </a:r>
              <a:endPara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endParaRPr>
            </a:p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카메라 </a:t>
              </a:r>
              <a:r>
                <a:rPr lang="en-US" altLang="ko-KR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/ </a:t>
              </a:r>
              <a:r>
                <a:rPr lang="ko-KR" altLang="en-US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모듈 </a:t>
              </a:r>
              <a:r>
                <a:rPr lang="en-US" altLang="ko-KR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/ </a:t>
              </a:r>
              <a:r>
                <a:rPr lang="ko-KR" altLang="en-US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자격증명</a:t>
              </a:r>
              <a:endPara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endParaRP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AFD55212-2641-734D-33F3-295F6B2B2117}"/>
                </a:ext>
              </a:extLst>
            </p:cNvPr>
            <p:cNvSpPr/>
            <p:nvPr/>
          </p:nvSpPr>
          <p:spPr>
            <a:xfrm>
              <a:off x="8942467" y="3747840"/>
              <a:ext cx="1770649" cy="4812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미디어 파이프</a:t>
              </a:r>
              <a:endPara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endParaRPr>
            </a:p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수집</a:t>
              </a:r>
              <a:r>
                <a:rPr lang="en-US" altLang="ko-KR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/</a:t>
              </a:r>
              <a:r>
                <a:rPr lang="ko-KR" altLang="en-US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배포</a:t>
              </a:r>
              <a:r>
                <a:rPr lang="en-US" altLang="ko-KR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/</a:t>
              </a:r>
              <a:r>
                <a:rPr lang="ko-KR" altLang="en-US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녹화</a:t>
              </a:r>
              <a:r>
                <a:rPr lang="en-US" altLang="ko-KR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/</a:t>
              </a:r>
              <a:r>
                <a:rPr lang="ko-KR" altLang="en-US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재생</a:t>
              </a:r>
              <a:endPara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C571330F-3227-A429-9CC3-B6A5F7F24CDA}"/>
                </a:ext>
              </a:extLst>
            </p:cNvPr>
            <p:cNvSpPr/>
            <p:nvPr/>
          </p:nvSpPr>
          <p:spPr>
            <a:xfrm>
              <a:off x="8942467" y="4481765"/>
              <a:ext cx="1770649" cy="4812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분석 오케스트레이터</a:t>
              </a:r>
              <a:endPara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endParaRPr>
            </a:p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등록</a:t>
              </a:r>
              <a:r>
                <a:rPr lang="en-US" altLang="ko-KR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/</a:t>
              </a:r>
              <a:r>
                <a:rPr lang="ko-KR" altLang="en-US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할당</a:t>
              </a:r>
              <a:r>
                <a:rPr lang="en-US" altLang="ko-KR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/</a:t>
              </a:r>
              <a:r>
                <a:rPr lang="ko-KR" altLang="en-US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상태감시</a:t>
              </a:r>
              <a:endPara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A02F3873-0B78-C028-3D19-57C80894D9FB}"/>
                </a:ext>
              </a:extLst>
            </p:cNvPr>
            <p:cNvSpPr/>
            <p:nvPr/>
          </p:nvSpPr>
          <p:spPr>
            <a:xfrm>
              <a:off x="8942466" y="5221710"/>
              <a:ext cx="1770649" cy="4812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이벤트 파이프</a:t>
              </a:r>
              <a:endPara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endParaRPr>
            </a:p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정규화</a:t>
              </a:r>
              <a:r>
                <a:rPr lang="en-US" altLang="ko-KR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/</a:t>
              </a:r>
              <a:r>
                <a:rPr lang="ko-KR" altLang="en-US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승격</a:t>
              </a:r>
              <a:r>
                <a:rPr lang="en-US" altLang="ko-KR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/</a:t>
              </a:r>
              <a:r>
                <a:rPr lang="ko-KR" altLang="en-US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적재</a:t>
              </a:r>
              <a:r>
                <a:rPr lang="en-US" altLang="ko-KR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/</a:t>
              </a:r>
              <a:r>
                <a:rPr lang="ko-KR" altLang="en-US" sz="1100">
                  <a:solidFill>
                    <a:schemeClr val="tx1"/>
                  </a:solidFill>
                  <a:latin typeface="KoPubWorld돋움체_Pro Bold" panose="00000800000000000000" pitchFamily="50" charset="-127"/>
                  <a:ea typeface="KoPubWorld돋움체_Pro Bold" panose="00000800000000000000" pitchFamily="50" charset="-127"/>
                  <a:cs typeface="KoPubWorld돋움체_Pro Bold" panose="00000800000000000000" pitchFamily="50" charset="-127"/>
                </a:rPr>
                <a:t>통보</a:t>
              </a:r>
              <a:endPara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endParaRPr>
            </a:p>
          </p:txBody>
        </p:sp>
      </p:grp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82118F7-2E9F-B11C-1AC2-D8C202D025C0}"/>
              </a:ext>
            </a:extLst>
          </p:cNvPr>
          <p:cNvSpPr/>
          <p:nvPr/>
        </p:nvSpPr>
        <p:spPr>
          <a:xfrm>
            <a:off x="5786431" y="4247142"/>
            <a:ext cx="2414842" cy="7459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통합 허브 </a:t>
            </a:r>
            <a:r>
              <a: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- </a:t>
            </a:r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인바운드</a:t>
            </a:r>
            <a:endParaRPr lang="en-US" altLang="ko-KR" sz="1100">
              <a:solidFill>
                <a:schemeClr val="tx1"/>
              </a:solidFill>
              <a:latin typeface="KoPubWorld돋움체_Pro Bold" panose="00000800000000000000" pitchFamily="50" charset="-127"/>
              <a:ea typeface="KoPubWorld돋움체_Pro Bold" panose="00000800000000000000" pitchFamily="50" charset="-127"/>
              <a:cs typeface="KoPubWorld돋움체_Pro Bold" panose="00000800000000000000" pitchFamily="50" charset="-127"/>
            </a:endParaRPr>
          </a:p>
          <a:p>
            <a:pPr algn="ctr"/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바인딩</a:t>
            </a:r>
            <a:r>
              <a: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/</a:t>
            </a:r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아웃바운드 어댑터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DAB416C-F01A-FB12-A240-95A96076CB90}"/>
              </a:ext>
            </a:extLst>
          </p:cNvPr>
          <p:cNvSpPr/>
          <p:nvPr/>
        </p:nvSpPr>
        <p:spPr>
          <a:xfrm>
            <a:off x="1212762" y="2657650"/>
            <a:ext cx="2660737" cy="619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입력 어댑터</a:t>
            </a:r>
            <a:endParaRPr lang="en-US" altLang="ko-KR" sz="1100">
              <a:solidFill>
                <a:schemeClr val="tx1"/>
              </a:solidFill>
              <a:latin typeface="KoPubWorld돋움체_Pro Bold" panose="00000800000000000000" pitchFamily="50" charset="-127"/>
              <a:ea typeface="KoPubWorld돋움체_Pro Bold" panose="00000800000000000000" pitchFamily="50" charset="-127"/>
              <a:cs typeface="KoPubWorld돋움체_Pro Bold" panose="00000800000000000000" pitchFamily="50" charset="-127"/>
            </a:endParaRPr>
          </a:p>
          <a:p>
            <a:pPr algn="ctr"/>
            <a:r>
              <a: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RTSP/ONVIF/MQTT/HTTP/</a:t>
            </a:r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파일</a:t>
            </a:r>
            <a:r>
              <a: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/PLC</a:t>
            </a:r>
            <a:endParaRPr lang="ko-KR" altLang="en-US" sz="1100">
              <a:solidFill>
                <a:schemeClr val="tx1"/>
              </a:solidFill>
              <a:latin typeface="KoPubWorld돋움체_Pro Bold" panose="00000800000000000000" pitchFamily="50" charset="-127"/>
              <a:ea typeface="KoPubWorld돋움체_Pro Bold" panose="00000800000000000000" pitchFamily="50" charset="-127"/>
              <a:cs typeface="KoPubWorld돋움체_Pro Bold" panose="00000800000000000000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CD22A35-F21F-E750-30B2-F07827BBF340}"/>
              </a:ext>
            </a:extLst>
          </p:cNvPr>
          <p:cNvSpPr/>
          <p:nvPr/>
        </p:nvSpPr>
        <p:spPr>
          <a:xfrm>
            <a:off x="1212762" y="3644236"/>
            <a:ext cx="2660737" cy="619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분석 모듈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C24909-422A-9117-7BE1-D5EB55D8740F}"/>
              </a:ext>
            </a:extLst>
          </p:cNvPr>
          <p:cNvSpPr/>
          <p:nvPr/>
        </p:nvSpPr>
        <p:spPr>
          <a:xfrm>
            <a:off x="1212762" y="4636835"/>
            <a:ext cx="2660735" cy="6136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출력 어댑터</a:t>
            </a:r>
            <a:endParaRPr lang="en-US" altLang="ko-KR" sz="1100">
              <a:solidFill>
                <a:schemeClr val="tx1"/>
              </a:solidFill>
              <a:latin typeface="KoPubWorld돋움체_Pro Bold" panose="00000800000000000000" pitchFamily="50" charset="-127"/>
              <a:ea typeface="KoPubWorld돋움체_Pro Bold" panose="00000800000000000000" pitchFamily="50" charset="-127"/>
              <a:cs typeface="KoPubWorld돋움체_Pro Bold" panose="00000800000000000000" pitchFamily="50" charset="-127"/>
            </a:endParaRPr>
          </a:p>
          <a:p>
            <a:pPr algn="ctr"/>
            <a:r>
              <a: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MQTT </a:t>
            </a:r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발행</a:t>
            </a:r>
            <a:r>
              <a: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/</a:t>
            </a:r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웹훅</a:t>
            </a:r>
            <a:r>
              <a: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/</a:t>
            </a:r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알림</a:t>
            </a:r>
            <a:r>
              <a: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/PLC</a:t>
            </a:r>
            <a:endParaRPr lang="ko-KR" altLang="en-US" sz="1100">
              <a:solidFill>
                <a:schemeClr val="tx1"/>
              </a:solidFill>
              <a:latin typeface="KoPubWorld돋움체_Pro Bold" panose="00000800000000000000" pitchFamily="50" charset="-127"/>
              <a:ea typeface="KoPubWorld돋움체_Pro Bold" panose="00000800000000000000" pitchFamily="50" charset="-127"/>
              <a:cs typeface="KoPubWorld돋움체_Pro Bold" panose="00000800000000000000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B6B3272-92E9-F744-6562-DA951B7DB755}"/>
              </a:ext>
            </a:extLst>
          </p:cNvPr>
          <p:cNvSpPr/>
          <p:nvPr/>
        </p:nvSpPr>
        <p:spPr>
          <a:xfrm>
            <a:off x="1212763" y="5629435"/>
            <a:ext cx="2660734" cy="6075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미디어 서버</a:t>
            </a:r>
            <a:r>
              <a: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(MediaMTX)</a:t>
            </a:r>
          </a:p>
          <a:p>
            <a:pPr algn="ctr"/>
            <a:r>
              <a: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fan-out/</a:t>
            </a:r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녹화</a:t>
            </a:r>
            <a:r>
              <a:rPr lang="en-US" altLang="ko-KR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/</a:t>
            </a:r>
            <a:r>
              <a:rPr lang="ko-KR" altLang="en-US" sz="1100">
                <a:solidFill>
                  <a:schemeClr val="tx1"/>
                </a:solidFill>
                <a:latin typeface="KoPubWorld돋움체_Pro Bold" panose="00000800000000000000" pitchFamily="50" charset="-127"/>
                <a:ea typeface="KoPubWorld돋움체_Pro Bold" panose="00000800000000000000" pitchFamily="50" charset="-127"/>
                <a:cs typeface="KoPubWorld돋움체_Pro Bold" panose="00000800000000000000" pitchFamily="50" charset="-127"/>
              </a:rPr>
              <a:t>재생</a:t>
            </a:r>
          </a:p>
        </p:txBody>
      </p:sp>
    </p:spTree>
    <p:extLst>
      <p:ext uri="{BB962C8B-B14F-4D97-AF65-F5344CB8AC3E}">
        <p14:creationId xmlns:p14="http://schemas.microsoft.com/office/powerpoint/2010/main" val="911523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sz="1050" smtClean="0">
            <a:solidFill>
              <a:schemeClr val="tx1"/>
            </a:solidFill>
            <a:latin typeface="KoPubWorld돋움체_Pro Bold" panose="00000800000000000000" pitchFamily="50" charset="-127"/>
            <a:ea typeface="KoPubWorld돋움체_Pro Bold" panose="00000800000000000000" pitchFamily="50" charset="-127"/>
            <a:cs typeface="KoPubWorld돋움체_Pro Bold" panose="00000800000000000000" pitchFamily="50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tailEnd type="triangle"/>
        </a:ln>
      </a:spPr>
      <a:bodyPr/>
      <a:lstStyle/>
      <a:style>
        <a:lnRef idx="2">
          <a:schemeClr val="dk1"/>
        </a:lnRef>
        <a:fillRef idx="0">
          <a:schemeClr val="dk1"/>
        </a:fillRef>
        <a:effectRef idx="1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1000" smtClean="0">
            <a:latin typeface="KoPubWorld돋움체_Pro Bold" panose="00000800000000000000" pitchFamily="50" charset="-127"/>
            <a:ea typeface="KoPubWorld돋움체_Pro Bold" panose="00000800000000000000" pitchFamily="50" charset="-127"/>
            <a:cs typeface="KoPubWorld돋움체_Pro Bold" panose="00000800000000000000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lank" id="{F01B78B4-EACA-4F3C-BC77-3EA1A2482A19}" vid="{8BAD6823-9755-4B74-B07D-C6A8B813379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46</TotalTime>
  <Words>96</Words>
  <Application>Microsoft Office PowerPoint</Application>
  <PresentationFormat>와이드스크린</PresentationFormat>
  <Paragraphs>23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KoPubWorld돋움체_Pro Bold</vt:lpstr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 SH</dc:creator>
  <cp:lastModifiedBy>L SH</cp:lastModifiedBy>
  <cp:revision>1</cp:revision>
  <dcterms:created xsi:type="dcterms:W3CDTF">2026-09-08T04:50:41Z</dcterms:created>
  <dcterms:modified xsi:type="dcterms:W3CDTF">2026-09-08T05:37:01Z</dcterms:modified>
</cp:coreProperties>
</file>